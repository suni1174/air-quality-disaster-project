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Yoy/UrmHKs6QdyVGuznVB8DoV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728E90-49F9-44F9-8203-1F158B89F5DF}">
  <a:tblStyle styleId="{BA728E90-49F9-44F9-8203-1F158B89F5D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0ddc0a699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d0ddc0a699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d0ddc0a699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c5d5a35ab3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c5d5a35ab3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c5d5a35ab3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c5d5a35ab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c5d5a35ab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c5d5a35ab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c5d5a35ab3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c5d5a35ab3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c5d5a35ab3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5d5a35ab3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c5d5a35ab3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c5d5a35ab3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c5d5a35ab3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c5d5a35ab3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c5d5a35ab3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c5d5a35ab3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c5d5a35ab3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c5d5a35ab3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c5e071c8a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g3c5e071c8a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c5e071c8a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D4"/>
          </a:solidFill>
          <a:ln cap="flat" cmpd="sng" w="12700">
            <a:solidFill>
              <a:srgbClr val="00C2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0C2D4"/>
                </a:solidFill>
                <a:latin typeface="Trebuchet MS"/>
                <a:ea typeface="Trebuchet MS"/>
                <a:cs typeface="Trebuchet MS"/>
                <a:sym typeface="Trebuchet MS"/>
              </a:rPr>
              <a:t>AIR QUALITY AS A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1207008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DISASTER INDICATOR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1901952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Multi-City Environmental Intelligence Framework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2340864"/>
            <a:ext cx="5486400" cy="36576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365760" y="248716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Thunderstorm  </a:t>
            </a: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|  Delhi  |  Jaipur  |  Visakhapatnam  |  2019-202</a:t>
            </a: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2999232"/>
            <a:ext cx="2651760" cy="9144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365760" y="304495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Delhi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65760" y="341985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Stubble Burning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246120" y="2999232"/>
            <a:ext cx="2651760" cy="914400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246120" y="304495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Jaipur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246120" y="341985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Dust Storms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126480" y="2999232"/>
            <a:ext cx="2651760" cy="914400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6126480" y="304495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Vizag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126480" y="341985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Industrial / Gas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isaster Management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|  Course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This Project?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74320" y="822960"/>
            <a:ext cx="8595360" cy="74980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7200" y="877824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Can rising pollution levels warn us about an environmental disaster BEFORE it becomes catastrophic?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74320" y="1719072"/>
            <a:ext cx="4114800" cy="27432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65760" y="181051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65760" y="2148840"/>
            <a:ext cx="384048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Standard AQI monitoring reports the current number. It cannot tell you:</a:t>
            </a:r>
            <a:b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WHY did it spike?</a:t>
            </a:r>
            <a:br>
              <a:rPr b="1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Is this smog or a disaster?</a:t>
            </a:r>
            <a:b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What happens in 24 hours?</a:t>
            </a:r>
            <a:b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AQI = 300 could mean traffic congestion or a gas leak.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663440" y="1719072"/>
            <a:ext cx="4114800" cy="27432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754880" y="181051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OUR SOLUTION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754880" y="2148840"/>
            <a:ext cx="384048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We treat air quality as a chemical fingerprint.</a:t>
            </a:r>
            <a:br>
              <a:rPr b="1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Each disaster leaves a unique pollutant signature:</a:t>
            </a:r>
            <a:b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Fire  =&gt;  PM2.5 + CO both spike</a:t>
            </a:r>
            <a:b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Dust  =&gt;  PM10 only, CO stays quiet</a:t>
            </a:r>
            <a:b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Gas   =&gt;  SO2 explodes suddenly</a:t>
            </a:r>
            <a:b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We detect, classify, and forecast automatically.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74320" y="4645152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Output: 3-tab dashboard  |  Live predictor  |  Real event validation  |  14/14 known events detected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5FB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What Data Are We Using?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274320" y="804672"/>
            <a:ext cx="2788920" cy="32004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274320" y="868680"/>
            <a:ext cx="2788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Sentinel-5P TROPOMI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Google Earth Engine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274320" y="155448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DD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BDDFF"/>
                </a:solidFill>
                <a:latin typeface="Calibri"/>
                <a:ea typeface="Calibri"/>
                <a:cs typeface="Calibri"/>
                <a:sym typeface="Calibri"/>
              </a:rPr>
              <a:t>EU satellite | Daily | 3.5 km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11480" y="2029968"/>
            <a:ext cx="2514600" cy="27432"/>
          </a:xfrm>
          <a:prstGeom prst="rect">
            <a:avLst/>
          </a:prstGeom>
          <a:solidFill>
            <a:srgbClr val="00C2D4"/>
          </a:solidFill>
          <a:ln cap="flat" cmpd="sng" w="12700">
            <a:solidFill>
              <a:srgbClr val="00C2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274320" y="2084832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Provides: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74320" y="2331720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NO2    SO2    CO    O3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200400" y="804672"/>
            <a:ext cx="2788920" cy="3200400"/>
          </a:xfrm>
          <a:prstGeom prst="rect">
            <a:avLst/>
          </a:prstGeom>
          <a:solidFill>
            <a:srgbClr val="0D5C2E"/>
          </a:solidFill>
          <a:ln cap="flat" cmpd="sng" w="12700">
            <a:solidFill>
              <a:srgbClr val="0D5C2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200400" y="868680"/>
            <a:ext cx="2788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MODIS Terra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Google Earth Engine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200400" y="155448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DD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BDDFF"/>
                </a:solidFill>
                <a:latin typeface="Calibri"/>
                <a:ea typeface="Calibri"/>
                <a:cs typeface="Calibri"/>
                <a:sym typeface="Calibri"/>
              </a:rPr>
              <a:t>NASA satellite | Daily | 1 km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337560" y="2029968"/>
            <a:ext cx="2514600" cy="27432"/>
          </a:xfrm>
          <a:prstGeom prst="rect">
            <a:avLst/>
          </a:prstGeom>
          <a:solidFill>
            <a:srgbClr val="00C2D4"/>
          </a:solidFill>
          <a:ln cap="flat" cmpd="sng" w="12700">
            <a:solidFill>
              <a:srgbClr val="00C2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3200400" y="2084832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Provides: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200400" y="2331720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AOD (PM2.5)  +  Fire count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126480" y="804672"/>
            <a:ext cx="2788920" cy="3200400"/>
          </a:xfrm>
          <a:prstGeom prst="rect">
            <a:avLst/>
          </a:prstGeom>
          <a:solidFill>
            <a:srgbClr val="7C2D12"/>
          </a:solidFill>
          <a:ln cap="flat" cmpd="sng" w="12700">
            <a:solidFill>
              <a:srgbClr val="7C2D1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126480" y="868680"/>
            <a:ext cx="2788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Open-Meteo Archive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Free REST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126480" y="155448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DD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BDDFF"/>
                </a:solidFill>
                <a:latin typeface="Calibri"/>
                <a:ea typeface="Calibri"/>
                <a:cs typeface="Calibri"/>
                <a:sym typeface="Calibri"/>
              </a:rPr>
              <a:t>ERA5 reanalysis | Hourly | Free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263640" y="2029968"/>
            <a:ext cx="2514600" cy="27432"/>
          </a:xfrm>
          <a:prstGeom prst="rect">
            <a:avLst/>
          </a:prstGeom>
          <a:solidFill>
            <a:srgbClr val="00C2D4"/>
          </a:solidFill>
          <a:ln cap="flat" cmpd="sng" w="12700">
            <a:solidFill>
              <a:srgbClr val="00C2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126480" y="2084832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Provides: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126480" y="2331720"/>
            <a:ext cx="2788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  Humidity  Wind  Pressure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74320" y="4133088"/>
            <a:ext cx="8595360" cy="749808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57200" y="416966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0C2D4"/>
                </a:solidFill>
                <a:latin typeface="Trebuchet MS"/>
                <a:ea typeface="Trebuchet MS"/>
                <a:cs typeface="Trebuchet MS"/>
                <a:sym typeface="Trebuchet MS"/>
              </a:rPr>
              <a:t>157,824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57200" y="45262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Hourly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148840" y="416966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0C2D4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148840" y="45262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840480" y="416966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0C2D4"/>
                </a:solidFill>
                <a:latin typeface="Trebuchet MS"/>
                <a:ea typeface="Trebuchet MS"/>
                <a:cs typeface="Trebuchet MS"/>
                <a:sym typeface="Trebuchet MS"/>
              </a:rPr>
              <a:t>6 Years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840480" y="45262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2019-2024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532120" y="416966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0C2D4"/>
                </a:solidFill>
                <a:latin typeface="Trebuchet MS"/>
                <a:ea typeface="Trebuchet MS"/>
                <a:cs typeface="Trebuchet MS"/>
                <a:sym typeface="Trebuchet MS"/>
              </a:rPr>
              <a:t>17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532120" y="45262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Raw Columns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223760" y="416966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0C2D4"/>
                </a:solidFill>
                <a:latin typeface="Trebuchet MS"/>
                <a:ea typeface="Trebuchet MS"/>
                <a:cs typeface="Trebuchet MS"/>
                <a:sym typeface="Trebuchet MS"/>
              </a:rPr>
              <a:t>84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223760" y="45262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Engineered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Pipeline: 4 Steps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228600" y="804672"/>
            <a:ext cx="2057400" cy="352044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978408" y="877824"/>
            <a:ext cx="548640" cy="548640"/>
          </a:xfrm>
          <a:prstGeom prst="ellipse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978408" y="896112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228600" y="150876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2E75B6"/>
                </a:solidFill>
                <a:latin typeface="Trebuchet MS"/>
                <a:ea typeface="Trebuchet MS"/>
                <a:cs typeface="Trebuchet MS"/>
                <a:sym typeface="Trebuchet MS"/>
              </a:rPr>
              <a:t>DOWNLOAD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28600" y="1883664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65760" y="2157984"/>
            <a:ext cx="1783080" cy="27432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20040" y="2231136"/>
            <a:ext cx="18745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GEE Python API downloads 6 years of satellite data. Open-Meteo provides hourly weather</a:t>
            </a:r>
            <a:r>
              <a:rPr lang="en-US" sz="110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 and CPCB data on hourly basis.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286000" y="2395728"/>
            <a:ext cx="155448" cy="54864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2441448" y="804672"/>
            <a:ext cx="2057400" cy="352044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3191256" y="877824"/>
            <a:ext cx="548640" cy="548640"/>
          </a:xfrm>
          <a:prstGeom prst="ellipse">
            <a:avLst/>
          </a:prstGeom>
          <a:solidFill>
            <a:srgbClr val="00C2D4"/>
          </a:solidFill>
          <a:ln cap="flat" cmpd="sng" w="12700">
            <a:solidFill>
              <a:srgbClr val="00C2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191256" y="896112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2441448" y="150876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C2D4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ENGINEERING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2441448" y="1883664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01_features.py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578608" y="2157984"/>
            <a:ext cx="1783080" cy="27432"/>
          </a:xfrm>
          <a:prstGeom prst="rect">
            <a:avLst/>
          </a:prstGeom>
          <a:solidFill>
            <a:srgbClr val="00C2D4"/>
          </a:solidFill>
          <a:ln cap="flat" cmpd="sng" w="12700">
            <a:solidFill>
              <a:srgbClr val="00C2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2532888" y="2231136"/>
            <a:ext cx="18745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Clean gaps, smooth signals (Savitzky-Golay), build 84 features: pollutant ratios, lags (1h/6h/24h), rolling stats, wind vectors, AQI.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498848" y="2395728"/>
            <a:ext cx="155448" cy="54864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4654296" y="804672"/>
            <a:ext cx="2057400" cy="352044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5404104" y="877824"/>
            <a:ext cx="548640" cy="54864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404104" y="896112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654296" y="150876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MODELLING + 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654296" y="1883664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02_model.py + ml_validation.py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791456" y="2157984"/>
            <a:ext cx="1783080" cy="2743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4745736" y="2231136"/>
            <a:ext cx="18744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KMeans pattern grouping  </a:t>
            </a:r>
            <a:endParaRPr sz="1100">
              <a:solidFill>
                <a:srgbClr val="E8F0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solation Forest anomaly scoring, STL seasonal decomposition, XGBoost classifier + forecaster. Full validation suite.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711696" y="2395728"/>
            <a:ext cx="155448" cy="54864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867144" y="804672"/>
            <a:ext cx="2057400" cy="352044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7616952" y="877824"/>
            <a:ext cx="548640" cy="54864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7616952" y="896112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867144" y="150876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867144" y="1883664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03_dashboard.py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7004304" y="2157984"/>
            <a:ext cx="1783080" cy="27432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6958584" y="2231136"/>
            <a:ext cx="18745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3-tab Plotly Dash at localhost:8050. Analysis charts, Live Predictor, Real Events Validation with news links.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28600" y="4462272"/>
            <a:ext cx="8686800" cy="438912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65760" y="449884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Output: results.parquet  |  157,824 rows x 100 cols  |  3 saved model files  |  Full validation suite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5FB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365760" y="164592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Clustering + XGBoost Framework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228600" y="804675"/>
            <a:ext cx="2788800" cy="26436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228600" y="1133856"/>
            <a:ext cx="278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KMeans Clustering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228600" y="1499616"/>
            <a:ext cx="278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Unsupervised Learning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65760" y="1783080"/>
            <a:ext cx="2514600" cy="27300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20040" y="1847088"/>
            <a:ext cx="26061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• Apply KMeans on anomalous data</a:t>
            </a:r>
            <a:endParaRPr sz="1200">
              <a:solidFill>
                <a:srgbClr val="E8F0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• Groups events based on chemical similarity</a:t>
            </a:r>
            <a:endParaRPr sz="1200">
              <a:solidFill>
                <a:srgbClr val="E8F0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• No rules or labels used</a:t>
            </a:r>
            <a:endParaRPr sz="1200">
              <a:solidFill>
                <a:srgbClr val="E8F0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154675" y="804675"/>
            <a:ext cx="2788800" cy="2643600"/>
          </a:xfrm>
          <a:prstGeom prst="rect">
            <a:avLst/>
          </a:prstGeom>
          <a:solidFill>
            <a:srgbClr val="1A3320"/>
          </a:solidFill>
          <a:ln cap="flat" cmpd="sng" w="12700">
            <a:solidFill>
              <a:srgbClr val="1A33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3154680" y="1133856"/>
            <a:ext cx="278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Label Creation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154680" y="1499616"/>
            <a:ext cx="278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Data-driven approach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291840" y="1783080"/>
            <a:ext cx="2514600" cy="273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3246020" y="1837888"/>
            <a:ext cx="26061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• Analyze cluster centroids</a:t>
            </a:r>
            <a:endParaRPr sz="1200">
              <a:solidFill>
                <a:srgbClr val="E8F0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• Identify patterns (Fire, Dust, Industrial)</a:t>
            </a:r>
            <a:endParaRPr sz="1200">
              <a:solidFill>
                <a:srgbClr val="E8F0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• Assign meaning based on pollutant behavior</a:t>
            </a:r>
            <a:endParaRPr sz="1200">
              <a:solidFill>
                <a:srgbClr val="E8F0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2880345" y="3966388"/>
            <a:ext cx="260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080750" y="804675"/>
            <a:ext cx="2788800" cy="2643600"/>
          </a:xfrm>
          <a:prstGeom prst="rect">
            <a:avLst/>
          </a:prstGeom>
          <a:solidFill>
            <a:srgbClr val="3D1F00"/>
          </a:solidFill>
          <a:ln cap="flat" cmpd="sng" w="12700">
            <a:solidFill>
              <a:srgbClr val="3D1F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080760" y="1133856"/>
            <a:ext cx="278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XGBoost 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080760" y="1499616"/>
            <a:ext cx="278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Dual confirmation rule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217920" y="1783080"/>
            <a:ext cx="2514600" cy="273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6172000" y="1499625"/>
            <a:ext cx="2606100" cy="17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• Use cluster-derived labels</a:t>
            </a:r>
            <a:endParaRPr sz="1200">
              <a:solidFill>
                <a:srgbClr val="E8F0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• Classify Normal vs event types</a:t>
            </a:r>
            <a:endParaRPr sz="1200">
              <a:solidFill>
                <a:srgbClr val="E8F0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• Learn pollutant signatures</a:t>
            </a:r>
            <a:endParaRPr sz="1200">
              <a:solidFill>
                <a:srgbClr val="E8F0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82875" y="3585553"/>
            <a:ext cx="8732400" cy="129840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342775" y="3753252"/>
            <a:ext cx="84126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E8F0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100"/>
              <a:buFont typeface="Calibri"/>
              <a:buNone/>
            </a:pPr>
            <a:r>
              <a:rPr lang="en-US" sz="180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Anomalies → KMeans → Cluster Meaning → XGBoost → Prediction</a:t>
            </a:r>
            <a:endParaRPr sz="1800">
              <a:solidFill>
                <a:srgbClr val="E8F0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No Label Leakage:</a:t>
            </a:r>
            <a:endParaRPr sz="1100">
              <a:solidFill>
                <a:srgbClr val="E8F0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No rule-based labels, no future data: labels emerge from clustering</a:t>
            </a:r>
            <a:endParaRPr sz="1100">
              <a:solidFill>
                <a:srgbClr val="E8F0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E8F0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5F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0ddc0a699_0_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d0ddc0a699_0_3"/>
          <p:cNvSpPr/>
          <p:nvPr/>
        </p:nvSpPr>
        <p:spPr>
          <a:xfrm>
            <a:off x="365760" y="164592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Anomaly Detection: 3-Layer System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d0ddc0a699_0_3"/>
          <p:cNvSpPr/>
          <p:nvPr/>
        </p:nvSpPr>
        <p:spPr>
          <a:xfrm>
            <a:off x="228600" y="804672"/>
            <a:ext cx="2788800" cy="370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d0ddc0a699_0_3"/>
          <p:cNvSpPr/>
          <p:nvPr/>
        </p:nvSpPr>
        <p:spPr>
          <a:xfrm>
            <a:off x="228600" y="868680"/>
            <a:ext cx="278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d0ddc0a699_0_3"/>
          <p:cNvSpPr/>
          <p:nvPr/>
        </p:nvSpPr>
        <p:spPr>
          <a:xfrm>
            <a:off x="228600" y="1133856"/>
            <a:ext cx="278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Isolation Forest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d0ddc0a699_0_3"/>
          <p:cNvSpPr/>
          <p:nvPr/>
        </p:nvSpPr>
        <p:spPr>
          <a:xfrm>
            <a:off x="228600" y="1499616"/>
            <a:ext cx="278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Unsupervised ML algorithm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d0ddc0a699_0_3"/>
          <p:cNvSpPr/>
          <p:nvPr/>
        </p:nvSpPr>
        <p:spPr>
          <a:xfrm>
            <a:off x="365760" y="1783080"/>
            <a:ext cx="2514600" cy="27300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d0ddc0a699_0_3"/>
          <p:cNvSpPr/>
          <p:nvPr/>
        </p:nvSpPr>
        <p:spPr>
          <a:xfrm>
            <a:off x="320040" y="1847088"/>
            <a:ext cx="26061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Randomly splits feature space. Anomalies are isolated in fewer splits (shorter path) giving a higher anomaly score 0 to 1. Trained separately per city so Delhi and Jaipur each have their own baselines.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d0ddc0a699_0_3"/>
          <p:cNvSpPr/>
          <p:nvPr/>
        </p:nvSpPr>
        <p:spPr>
          <a:xfrm>
            <a:off x="320040" y="3163824"/>
            <a:ext cx="2606100" cy="27300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0ddc0a699_0_3"/>
          <p:cNvSpPr/>
          <p:nvPr/>
        </p:nvSpPr>
        <p:spPr>
          <a:xfrm>
            <a:off x="320040" y="3218688"/>
            <a:ext cx="260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Output: Anomaly score per hour. Top 0.07% flagged as high-severity.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d0ddc0a699_0_3"/>
          <p:cNvSpPr/>
          <p:nvPr/>
        </p:nvSpPr>
        <p:spPr>
          <a:xfrm>
            <a:off x="3154680" y="804672"/>
            <a:ext cx="2788800" cy="3703200"/>
          </a:xfrm>
          <a:prstGeom prst="rect">
            <a:avLst/>
          </a:prstGeom>
          <a:solidFill>
            <a:srgbClr val="1A3320"/>
          </a:solidFill>
          <a:ln cap="flat" cmpd="sng" w="12700">
            <a:solidFill>
              <a:srgbClr val="1A332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0ddc0a699_0_3"/>
          <p:cNvSpPr/>
          <p:nvPr/>
        </p:nvSpPr>
        <p:spPr>
          <a:xfrm>
            <a:off x="3154680" y="868680"/>
            <a:ext cx="278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d0ddc0a699_0_3"/>
          <p:cNvSpPr/>
          <p:nvPr/>
        </p:nvSpPr>
        <p:spPr>
          <a:xfrm>
            <a:off x="3154680" y="1133856"/>
            <a:ext cx="278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STL Decomposition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d0ddc0a699_0_3"/>
          <p:cNvSpPr/>
          <p:nvPr/>
        </p:nvSpPr>
        <p:spPr>
          <a:xfrm>
            <a:off x="3154680" y="1499616"/>
            <a:ext cx="278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Statistical time series method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d0ddc0a699_0_3"/>
          <p:cNvSpPr/>
          <p:nvPr/>
        </p:nvSpPr>
        <p:spPr>
          <a:xfrm>
            <a:off x="3291840" y="1783080"/>
            <a:ext cx="2514600" cy="273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d0ddc0a699_0_3"/>
          <p:cNvSpPr/>
          <p:nvPr/>
        </p:nvSpPr>
        <p:spPr>
          <a:xfrm>
            <a:off x="3246120" y="1847088"/>
            <a:ext cx="26061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Splits each pollutant signal into Trend + Seasonality + Residual. The residual is the disaster signal: what cannot be explained by normal seasonal cycles. Applied on daily data for speed, then mapped back to hourly.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d0ddc0a699_0_3"/>
          <p:cNvSpPr/>
          <p:nvPr/>
        </p:nvSpPr>
        <p:spPr>
          <a:xfrm>
            <a:off x="3246120" y="3163824"/>
            <a:ext cx="2606100" cy="273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d0ddc0a699_0_3"/>
          <p:cNvSpPr/>
          <p:nvPr/>
        </p:nvSpPr>
        <p:spPr>
          <a:xfrm>
            <a:off x="3246120" y="3218688"/>
            <a:ext cx="260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Output: Spike flag when residual exceeds 3 standard deviations.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d0ddc0a699_0_3"/>
          <p:cNvSpPr/>
          <p:nvPr/>
        </p:nvSpPr>
        <p:spPr>
          <a:xfrm>
            <a:off x="6080760" y="804672"/>
            <a:ext cx="2788800" cy="3703200"/>
          </a:xfrm>
          <a:prstGeom prst="rect">
            <a:avLst/>
          </a:prstGeom>
          <a:solidFill>
            <a:srgbClr val="3D1F00"/>
          </a:solidFill>
          <a:ln cap="flat" cmpd="sng" w="12700">
            <a:solidFill>
              <a:srgbClr val="3D1F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d0ddc0a699_0_3"/>
          <p:cNvSpPr/>
          <p:nvPr/>
        </p:nvSpPr>
        <p:spPr>
          <a:xfrm>
            <a:off x="6080760" y="868680"/>
            <a:ext cx="278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Layer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0ddc0a699_0_3"/>
          <p:cNvSpPr/>
          <p:nvPr/>
        </p:nvSpPr>
        <p:spPr>
          <a:xfrm>
            <a:off x="6080760" y="1133856"/>
            <a:ext cx="278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Combined Gate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d0ddc0a699_0_3"/>
          <p:cNvSpPr/>
          <p:nvPr/>
        </p:nvSpPr>
        <p:spPr>
          <a:xfrm>
            <a:off x="6080760" y="1499616"/>
            <a:ext cx="278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Dual confirmation rule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d0ddc0a699_0_3"/>
          <p:cNvSpPr/>
          <p:nvPr/>
        </p:nvSpPr>
        <p:spPr>
          <a:xfrm>
            <a:off x="6217920" y="1783080"/>
            <a:ext cx="2514600" cy="273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0ddc0a699_0_3"/>
          <p:cNvSpPr/>
          <p:nvPr/>
        </p:nvSpPr>
        <p:spPr>
          <a:xfrm>
            <a:off x="6172200" y="1847088"/>
            <a:ext cx="26061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A disaster event is CONFIRMED only when both Layer 1 score exceeds 0.82 AND Layer 2 spike flag is True. This prevents false alarms from either method alone. Result: 116 confirmed disaster hours across 6 years.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d0ddc0a699_0_3"/>
          <p:cNvSpPr/>
          <p:nvPr/>
        </p:nvSpPr>
        <p:spPr>
          <a:xfrm>
            <a:off x="6172200" y="3163824"/>
            <a:ext cx="2606100" cy="273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0ddc0a699_0_3"/>
          <p:cNvSpPr/>
          <p:nvPr/>
        </p:nvSpPr>
        <p:spPr>
          <a:xfrm>
            <a:off x="6172200" y="3218688"/>
            <a:ext cx="260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Output: Final confirmed event list used to train XGBoost.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Event Classification: Chemical Fingerprinting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XGBoost reads the pollutant mix and identifies the disaster type: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228600" y="1115568"/>
            <a:ext cx="1417320" cy="32918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228600" y="113385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Event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1691640" y="1115568"/>
            <a:ext cx="1325880" cy="32918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1691640" y="1133856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063240" y="1115568"/>
            <a:ext cx="685800" cy="32918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3063240" y="1133856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PM2.5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794760" y="1115568"/>
            <a:ext cx="777240" cy="32918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3794760" y="1133856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PM10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617720" y="1115568"/>
            <a:ext cx="640080" cy="32918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4617720" y="113385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303520" y="1115568"/>
            <a:ext cx="777240" cy="32918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5303520" y="1133856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126480" y="1115568"/>
            <a:ext cx="640080" cy="32918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6126480" y="113385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812280" y="1115568"/>
            <a:ext cx="640080" cy="32918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6812280" y="113385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7498080" y="1115568"/>
            <a:ext cx="2103120" cy="32918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7498076" y="1133850"/>
            <a:ext cx="148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Signal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228600" y="1517904"/>
            <a:ext cx="141732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228600" y="1545336"/>
            <a:ext cx="1417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FIRE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691640" y="1517904"/>
            <a:ext cx="132588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1691640" y="1545336"/>
            <a:ext cx="1325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Delhi (Oct-Nov)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063240" y="1517904"/>
            <a:ext cx="68580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3063240" y="1545336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3794760" y="1517904"/>
            <a:ext cx="77724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3794760" y="1545336"/>
            <a:ext cx="777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617720" y="1517904"/>
            <a:ext cx="64008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617720" y="1545336"/>
            <a:ext cx="640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5303520" y="1517904"/>
            <a:ext cx="77724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5303520" y="1527049"/>
            <a:ext cx="7773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6126480" y="1517904"/>
            <a:ext cx="64008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6126480" y="1545336"/>
            <a:ext cx="640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812280" y="1517904"/>
            <a:ext cx="64008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6812280" y="1545336"/>
            <a:ext cx="640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7498080" y="1517904"/>
            <a:ext cx="210312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7498075" y="1545325"/>
            <a:ext cx="1486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PM2.5 + CO both spike; ratio &gt; 0.6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228600" y="2176272"/>
            <a:ext cx="141732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228600" y="2203704"/>
            <a:ext cx="1417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DUST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1691640" y="2176272"/>
            <a:ext cx="132588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1691640" y="2203704"/>
            <a:ext cx="1325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Jaipur (May-Jun)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3063240" y="2176272"/>
            <a:ext cx="68580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3063240" y="2203704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3794760" y="2176272"/>
            <a:ext cx="77724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3794760" y="2203704"/>
            <a:ext cx="777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VERY HIGH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4617720" y="2176272"/>
            <a:ext cx="64008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4617720" y="2203704"/>
            <a:ext cx="640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303520" y="2176272"/>
            <a:ext cx="77724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5303520" y="2203704"/>
            <a:ext cx="777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126480" y="2176272"/>
            <a:ext cx="64008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6126480" y="2203704"/>
            <a:ext cx="640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6812280" y="2176272"/>
            <a:ext cx="64008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6812280" y="2203704"/>
            <a:ext cx="640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7498080" y="2176272"/>
            <a:ext cx="210312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7498076" y="2203700"/>
            <a:ext cx="1573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PM10 dominant; CO/NO2 quiet; ratio &lt; 0.25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228600" y="2834640"/>
            <a:ext cx="141732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228600" y="2862072"/>
            <a:ext cx="1417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GAS LEAK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1691640" y="2834640"/>
            <a:ext cx="132588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1691640" y="2862072"/>
            <a:ext cx="1325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Vizag (episodic)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3063240" y="2834640"/>
            <a:ext cx="68580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3063240" y="2862072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3794760" y="2834640"/>
            <a:ext cx="77724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3794760" y="2862072"/>
            <a:ext cx="777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4617720" y="2834640"/>
            <a:ext cx="64008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4617720" y="2862072"/>
            <a:ext cx="640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5303520" y="2834640"/>
            <a:ext cx="77724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5303520" y="2862072"/>
            <a:ext cx="777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EXTREME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6126480" y="2834640"/>
            <a:ext cx="64008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6126480" y="2862072"/>
            <a:ext cx="640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6812280" y="2834640"/>
            <a:ext cx="64008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6812280" y="2862072"/>
            <a:ext cx="640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7498080" y="2834640"/>
            <a:ext cx="2103120" cy="594360"/>
          </a:xfrm>
          <a:prstGeom prst="rect">
            <a:avLst/>
          </a:prstGeom>
          <a:solidFill>
            <a:srgbClr val="0D1F35"/>
          </a:solidFill>
          <a:ln cap="flat" cmpd="sng" w="12700">
            <a:solidFill>
              <a:srgbClr val="0D1F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7498075" y="2862075"/>
            <a:ext cx="1486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SO2 sudden spike &gt; 500; fire count = 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228600" y="3493008"/>
            <a:ext cx="141732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228600" y="3520440"/>
            <a:ext cx="1417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INDUSTRIAL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1691640" y="3493008"/>
            <a:ext cx="132588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1691640" y="3520440"/>
            <a:ext cx="1325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Vizag (sustained)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3063240" y="3493008"/>
            <a:ext cx="68580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"/>
          <p:cNvSpPr/>
          <p:nvPr/>
        </p:nvSpPr>
        <p:spPr>
          <a:xfrm>
            <a:off x="3063240" y="3520440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3794760" y="3493008"/>
            <a:ext cx="77724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"/>
          <p:cNvSpPr/>
          <p:nvPr/>
        </p:nvSpPr>
        <p:spPr>
          <a:xfrm>
            <a:off x="3794760" y="3520440"/>
            <a:ext cx="777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4617720" y="3493008"/>
            <a:ext cx="64008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4617720" y="3520440"/>
            <a:ext cx="640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5303520" y="3493008"/>
            <a:ext cx="77724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6"/>
          <p:cNvSpPr/>
          <p:nvPr/>
        </p:nvSpPr>
        <p:spPr>
          <a:xfrm>
            <a:off x="5303520" y="3520440"/>
            <a:ext cx="777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6126480" y="3493008"/>
            <a:ext cx="64008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6"/>
          <p:cNvSpPr/>
          <p:nvPr/>
        </p:nvSpPr>
        <p:spPr>
          <a:xfrm>
            <a:off x="6126480" y="3520440"/>
            <a:ext cx="640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6812280" y="3493008"/>
            <a:ext cx="64008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6"/>
          <p:cNvSpPr/>
          <p:nvPr/>
        </p:nvSpPr>
        <p:spPr>
          <a:xfrm>
            <a:off x="6812280" y="3520440"/>
            <a:ext cx="640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7498080" y="3493008"/>
            <a:ext cx="2103120" cy="594360"/>
          </a:xfrm>
          <a:prstGeom prst="rect">
            <a:avLst/>
          </a:prstGeom>
          <a:solidFill>
            <a:srgbClr val="112244"/>
          </a:solidFill>
          <a:ln cap="flat" cmpd="sng" w="12700">
            <a:solidFill>
              <a:srgbClr val="1122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7498076" y="3520450"/>
            <a:ext cx="1486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SO2 + NO2 elevated over days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228600" y="422452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Gas Leak AUC = 1.0000 (perfect)  |  Industrial AUC = 1.0000 (perfect)  |  Macro AUC = 0.9998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ML Validation: Proving the Model Is Reliable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228600" y="804672"/>
            <a:ext cx="2057400" cy="100584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228600" y="859536"/>
            <a:ext cx="2057400" cy="543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0.9864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228600" y="1408176"/>
            <a:ext cx="2057400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5-Fold CV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2441448" y="804672"/>
            <a:ext cx="2057400" cy="100584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2441448" y="859536"/>
            <a:ext cx="2057400" cy="543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0C2D4"/>
                </a:solidFill>
                <a:latin typeface="Trebuchet MS"/>
                <a:ea typeface="Trebuchet MS"/>
                <a:cs typeface="Trebuchet MS"/>
                <a:sym typeface="Trebuchet MS"/>
              </a:rPr>
              <a:t>+/-0.0013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2441448" y="1408176"/>
            <a:ext cx="2057400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Std Dev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(very consistent)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4654296" y="804672"/>
            <a:ext cx="2057400" cy="100584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4654296" y="859536"/>
            <a:ext cx="2057400" cy="543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0.69%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4654296" y="1408176"/>
            <a:ext cx="2057400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Overfitting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Gap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6867144" y="804672"/>
            <a:ext cx="2057400" cy="100584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6867144" y="859536"/>
            <a:ext cx="2057400" cy="543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0C2D4"/>
                </a:solidFill>
                <a:latin typeface="Trebuchet MS"/>
                <a:ea typeface="Trebuchet MS"/>
                <a:cs typeface="Trebuchet MS"/>
                <a:sym typeface="Trebuchet MS"/>
              </a:rPr>
              <a:t>0.9998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6867144" y="1408176"/>
            <a:ext cx="2057400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Macro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ROC AUC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228600" y="1920240"/>
            <a:ext cx="4160520" cy="292608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320040" y="199339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2D4"/>
                </a:solidFill>
                <a:latin typeface="Trebuchet MS"/>
                <a:ea typeface="Trebuchet MS"/>
                <a:cs typeface="Trebuchet MS"/>
                <a:sym typeface="Trebuchet MS"/>
              </a:rPr>
              <a:t>5-Fold Cross Validation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320040" y="232257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Fold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1618488" y="232257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2916936" y="232257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F1 Macro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320040" y="264261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Fold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1618488" y="264261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0.9867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2916936" y="264261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0.9539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320040" y="296265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Fold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1618488" y="296265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0.9877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2916936" y="296265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0.9781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320040" y="328269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Fold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1618488" y="328269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0.9877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2916936" y="328269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0.9793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320040" y="360273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Fold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1618488" y="360273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0.9844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2916936" y="360273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0.9683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320040" y="392277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Fold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1618488" y="392277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0.9854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2916936" y="392277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0.9635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320040" y="424281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Mean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1618488" y="424281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0.9864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2916936" y="424281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0.9686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320040" y="4645152"/>
            <a:ext cx="3977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Std dev 0.0013 = consistent performance across all folds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4617720" y="1920240"/>
            <a:ext cx="4251960" cy="292608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4709160" y="1993392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2D4"/>
                </a:solidFill>
                <a:latin typeface="Trebuchet MS"/>
                <a:ea typeface="Trebuchet MS"/>
                <a:cs typeface="Trebuchet MS"/>
                <a:sym typeface="Trebuchet MS"/>
              </a:rPr>
              <a:t>ROC AUC by Event Class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4709160" y="23774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Gas Leak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5943600" y="2423160"/>
            <a:ext cx="2560320" cy="20116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>
            <a:off x="8549640" y="23774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1.0000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4709160" y="28346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Industrial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5943600" y="2880360"/>
            <a:ext cx="2560320" cy="201168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7"/>
          <p:cNvSpPr/>
          <p:nvPr/>
        </p:nvSpPr>
        <p:spPr>
          <a:xfrm>
            <a:off x="8549640" y="28346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1.0000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4709160" y="32918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5943600" y="3337560"/>
            <a:ext cx="2555199" cy="201168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7"/>
          <p:cNvSpPr/>
          <p:nvPr/>
        </p:nvSpPr>
        <p:spPr>
          <a:xfrm>
            <a:off x="8549640" y="32918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0.9999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4709160" y="37490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5943600" y="3794760"/>
            <a:ext cx="2539837" cy="201168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7"/>
          <p:cNvSpPr/>
          <p:nvPr/>
        </p:nvSpPr>
        <p:spPr>
          <a:xfrm>
            <a:off x="8549640" y="37490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0.9996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4709160" y="4206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5943600" y="4251960"/>
            <a:ext cx="2529596" cy="201168"/>
          </a:xfrm>
          <a:prstGeom prst="rect">
            <a:avLst/>
          </a:prstGeom>
          <a:solidFill>
            <a:srgbClr val="00C2D4"/>
          </a:solidFill>
          <a:ln cap="flat" cmpd="sng" w="12700">
            <a:solidFill>
              <a:srgbClr val="00C2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7"/>
          <p:cNvSpPr/>
          <p:nvPr/>
        </p:nvSpPr>
        <p:spPr>
          <a:xfrm>
            <a:off x="8549640" y="4206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0.9994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4709160" y="4645152"/>
            <a:ext cx="4069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All AUC scores above 0.999  |  Gas and Industrial = perfect 1.0000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5FB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Confusion Matrix + Feature Importance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onfusion_matrix.png" id="347" name="Google Shape;3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777240"/>
            <a:ext cx="4389120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feature_importance.png" id="348" name="Google Shape;34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777240"/>
            <a:ext cx="4343400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8"/>
          <p:cNvSpPr/>
          <p:nvPr/>
        </p:nvSpPr>
        <p:spPr>
          <a:xfrm>
            <a:off x="182880" y="4160520"/>
            <a:ext cx="8732520" cy="7772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320040" y="420624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Confusion Matrix: </a:t>
            </a: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Fire 414/414, Dust 83/83, Gas 10/10 = perfect rows. All 20 Normal errors go to Fire or Dust (false alarm), never between disaster types.  </a:t>
            </a:r>
            <a:r>
              <a:rPr b="1" i="0" lang="en-US" sz="11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Feature Importance: </a:t>
            </a: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month_sin/cos rank #1-2 because disasters are seasonal. ratio_pm25_pm10 = core chemical fingerprint. CO x NO2 isolates combustion.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472450" y="4358801"/>
            <a:ext cx="8412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Classification Report: Held-Out 20% Test Set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228600" y="804672"/>
            <a:ext cx="2057400" cy="100584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228600" y="859536"/>
            <a:ext cx="2057400" cy="543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99%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228600" y="1408176"/>
            <a:ext cx="2057400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Overall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2441448" y="804672"/>
            <a:ext cx="2057400" cy="100584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2441448" y="859536"/>
            <a:ext cx="2057400" cy="543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1.00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2441448" y="1408176"/>
            <a:ext cx="2057400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Fire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4654296" y="804672"/>
            <a:ext cx="2057400" cy="100584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4654296" y="859536"/>
            <a:ext cx="2057400" cy="543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1.00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4654296" y="1408176"/>
            <a:ext cx="2057400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Gas Leak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6867144" y="804672"/>
            <a:ext cx="2057400" cy="100584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6867144" y="859536"/>
            <a:ext cx="2057400" cy="543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5C518"/>
                </a:solidFill>
                <a:latin typeface="Trebuchet MS"/>
                <a:ea typeface="Trebuchet MS"/>
                <a:cs typeface="Trebuchet MS"/>
                <a:sym typeface="Trebuchet MS"/>
              </a:rPr>
              <a:t>1.00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6867144" y="1408176"/>
            <a:ext cx="2057400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Dust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274320" y="1920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2D4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Classification Report: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2" name="Google Shape;372;p9"/>
          <p:cNvGraphicFramePr/>
          <p:nvPr/>
        </p:nvGraphicFramePr>
        <p:xfrm>
          <a:off x="274320" y="2240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{BA728E90-49F9-44F9-8203-1F158B89F5DF}</a:tableStyleId>
              </a:tblPr>
              <a:tblGrid>
                <a:gridCol w="1371600"/>
                <a:gridCol w="914400"/>
                <a:gridCol w="914400"/>
                <a:gridCol w="731525"/>
                <a:gridCol w="46634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Means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Routine pollution never incorrectly flagged as disaster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Fire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 single stubble burning event caught (zero misses)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Dust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 dust storm event caught (zero misses)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Gas Leak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Perfect in both directions: zero false alarms, zero misses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Industrial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mild emission hour missed; 28/29 correct</a:t>
                      </a:r>
                      <a:endParaRPr sz="1200" u="none" cap="none" strike="noStrike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3" name="Google Shape;373;p9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Recall matters more than precision for disasters: a missed gas leak costs lives. A false alarm just triggers an investigation.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c5d5a35ab3_0_72"/>
          <p:cNvSpPr/>
          <p:nvPr/>
        </p:nvSpPr>
        <p:spPr>
          <a:xfrm>
            <a:off x="0" y="0"/>
            <a:ext cx="109800" cy="5143500"/>
          </a:xfrm>
          <a:prstGeom prst="rect">
            <a:avLst/>
          </a:prstGeom>
          <a:solidFill>
            <a:srgbClr val="00C2D4"/>
          </a:solidFill>
          <a:ln cap="flat" cmpd="sng" w="12700">
            <a:solidFill>
              <a:srgbClr val="00C2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c5d5a35ab3_0_72"/>
          <p:cNvSpPr/>
          <p:nvPr/>
        </p:nvSpPr>
        <p:spPr>
          <a:xfrm>
            <a:off x="3602846" y="2320350"/>
            <a:ext cx="298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Trebuchet MS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g3c5d5a35ab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1800"/>
            <a:ext cx="8839196" cy="406061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c5d5a35ab3_0_0"/>
          <p:cNvSpPr/>
          <p:nvPr/>
        </p:nvSpPr>
        <p:spPr>
          <a:xfrm>
            <a:off x="972001" y="289350"/>
            <a:ext cx="720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Trebuchet MS"/>
              <a:buNone/>
            </a:pPr>
            <a:r>
              <a:rPr b="1" lang="en-US" sz="25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 AQI Timeline: Fire Events Detected Every Year 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g3c5d5a35ab3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6100"/>
            <a:ext cx="8839196" cy="3623167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c5d5a35ab3_0_4"/>
          <p:cNvSpPr/>
          <p:nvPr/>
        </p:nvSpPr>
        <p:spPr>
          <a:xfrm>
            <a:off x="365710" y="391367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 AQI Timeline: Fire Events Detected Every Year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g3c5d5a35ab3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575"/>
            <a:ext cx="8839201" cy="353378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3c5d5a35ab3_0_11"/>
          <p:cNvSpPr/>
          <p:nvPr/>
        </p:nvSpPr>
        <p:spPr>
          <a:xfrm>
            <a:off x="365710" y="436742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Trebuchet MS"/>
              <a:buNone/>
            </a:pPr>
            <a:r>
              <a:rPr b="1" lang="en-US" sz="24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Seasonal Patterns, Correlations, </a:t>
            </a:r>
            <a:r>
              <a:rPr b="1" lang="en-US" sz="24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Deseasonalized</a:t>
            </a:r>
            <a:r>
              <a:rPr b="1" lang="en-US" sz="24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 Signals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g3c5d5a35ab3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4025"/>
            <a:ext cx="8839199" cy="4222338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g3c5d5a35ab3_0_60"/>
          <p:cNvSpPr/>
          <p:nvPr/>
        </p:nvSpPr>
        <p:spPr>
          <a:xfrm>
            <a:off x="365757" y="164600"/>
            <a:ext cx="24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Live Predictor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5FB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Forecasting </a:t>
            </a:r>
            <a:r>
              <a:rPr b="1" lang="en-US" sz="28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&amp;</a:t>
            </a:r>
            <a:r>
              <a:rPr b="1" i="0" lang="en-US" sz="2800" u="none" cap="none" strike="noStrike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 Live Predictor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228600" y="804672"/>
            <a:ext cx="4160520" cy="4041648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1237395" y="905375"/>
            <a:ext cx="214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C2D4"/>
                </a:solidFill>
                <a:latin typeface="Trebuchet MS"/>
                <a:ea typeface="Trebuchet MS"/>
                <a:cs typeface="Trebuchet MS"/>
                <a:sym typeface="Trebuchet MS"/>
              </a:rPr>
              <a:t>24-Hour PM2.5 Forecast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365760" y="1243584"/>
            <a:ext cx="3886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1.  Take current pollutant readings: PM2.5, NO2, SO2, CO, AOD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309085" y="1856229"/>
            <a:ext cx="3886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2.  Add meteorological inputs: wind speed and direction, temperature, humidity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365760" y="2352312"/>
            <a:ext cx="3886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3.  Add time context: hour, month, weekend flag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365760" y="2872356"/>
            <a:ext cx="3886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4.  XGBoost Regressor predicts PM2.5 concentration 24 hours ahead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365772" y="3392414"/>
            <a:ext cx="3886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5.  Result: dotted yellow overlay on dashboard AQI timeline chart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4617720" y="804672"/>
            <a:ext cx="4251960" cy="4041648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5977982" y="951025"/>
            <a:ext cx="1291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C2D4"/>
                </a:solidFill>
                <a:latin typeface="Trebuchet MS"/>
                <a:ea typeface="Trebuchet MS"/>
                <a:cs typeface="Trebuchet MS"/>
                <a:sym typeface="Trebuchet MS"/>
              </a:rPr>
              <a:t>Live Predictor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4709160" y="15087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PM2.5=380, CO=7.0, PM10=520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7315200" y="15087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Fire, HIGH, 91%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4709160" y="202082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6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PM10=950, PM2.5=85, CO=0.6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7315200" y="202082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Dust, HIGH, 88%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4709160" y="253288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SO2=650, PM2.5=40, Fire=0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7009952" y="2532900"/>
            <a:ext cx="1768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Gas Leak, HIGH, 94%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4709160" y="304495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SO2=280, NO2=120, PM2.</a:t>
            </a:r>
            <a:r>
              <a:rPr b="0" i="0" lang="en-US" sz="13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=90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7099925" y="3044963"/>
            <a:ext cx="189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Industrial, MEDIUM, 80%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4709160" y="355701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PM2.5=48, NO2=38, SO2=14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7315200" y="355701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Normal, LOW, 95%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Did We Find?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228600" y="804672"/>
            <a:ext cx="2788920" cy="404164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228600" y="859536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DELHI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228600" y="1207008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Stubble Burning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365760" y="1499616"/>
            <a:ext cx="2514600" cy="2743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338328" y="1572768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Detected every Oct-Nov from 2019-2023: calendar-perfect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338328" y="2039112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AQI saturates at maximum 500 during peak events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338328" y="2505456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CO x NO2 interaction = strongest Fire classifier feature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338328" y="2971800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Events last 2-3 weeks: sustained, not brief spikes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338328" y="3438144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MODIS fire pixels from Punjab give 6-12h advance warning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3154680" y="804672"/>
            <a:ext cx="2788920" cy="404164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3154680" y="859536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5C518"/>
                </a:solidFill>
                <a:latin typeface="Trebuchet MS"/>
                <a:ea typeface="Trebuchet MS"/>
                <a:cs typeface="Trebuchet MS"/>
                <a:sym typeface="Trebuchet MS"/>
              </a:rPr>
              <a:t>JAIPUR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3154680" y="1207008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Dust Storms (Loo)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3291840" y="1499616"/>
            <a:ext cx="2514600" cy="27432"/>
          </a:xfrm>
          <a:prstGeom prst="rect">
            <a:avLst/>
          </a:prstGeom>
          <a:solidFill>
            <a:srgbClr val="F5C518"/>
          </a:solidFill>
          <a:ln cap="flat" cmpd="sng" w="12700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1"/>
          <p:cNvSpPr/>
          <p:nvPr/>
        </p:nvSpPr>
        <p:spPr>
          <a:xfrm>
            <a:off x="3264408" y="1572768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Events cluster in May-Jun every year without exception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3264408" y="2039112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PM10 spikes 6-12 times baseline; PM2.5/PM10 drops to 0.09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3264408" y="2505456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CO, NO2, SO2 remain quiet: chemical silence of mineral dust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3264408" y="2971800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Fire pixel count = 0 for all events: satellite confirms dust not fire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3264408" y="3438144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AOD from Thar Desert spikes simultaneously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6080760" y="804672"/>
            <a:ext cx="2788920" cy="404164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6080760" y="859536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rPr>
              <a:t>VIZAG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6080760" y="1207008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Industrial and Gas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6217920" y="1499616"/>
            <a:ext cx="2514600" cy="27432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1"/>
          <p:cNvSpPr/>
          <p:nvPr/>
        </p:nvSpPr>
        <p:spPr>
          <a:xfrm>
            <a:off x="6190488" y="1572768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LG Polymers 2020: SO2 spiked 8-20x baseline in 3 hours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6190488" y="2039112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Escientia blast Aug 2024: 17 deaths, correctly classified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6190488" y="2505456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Gas = sharp 1-day SO2 spike; Industrial = sustained days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6190488" y="2971800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Coastal sea breeze dilutes signals faster than inland cities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6190488" y="3438144"/>
            <a:ext cx="257860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Fire count = 0 for all: reliably distinguishes from biomass burning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g3c5d5a35ab3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87400"/>
            <a:ext cx="8839200" cy="421518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c5d5a35ab3_0_66"/>
          <p:cNvSpPr/>
          <p:nvPr/>
        </p:nvSpPr>
        <p:spPr>
          <a:xfrm>
            <a:off x="2706906" y="175950"/>
            <a:ext cx="373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Real Events Validation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3"/>
          <p:cNvSpPr/>
          <p:nvPr/>
        </p:nvSpPr>
        <p:spPr>
          <a:xfrm>
            <a:off x="365710" y="543267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Real Event Validation: 14/14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224025" y="1341122"/>
            <a:ext cx="2057400" cy="1115700"/>
          </a:xfrm>
          <a:prstGeom prst="rect">
            <a:avLst/>
          </a:prstGeom>
          <a:solidFill>
            <a:srgbClr val="0D2B0D"/>
          </a:solidFill>
          <a:ln cap="flat" cmpd="sng" w="12700">
            <a:solidFill>
              <a:srgbClr val="0D2B0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3"/>
          <p:cNvSpPr/>
          <p:nvPr/>
        </p:nvSpPr>
        <p:spPr>
          <a:xfrm>
            <a:off x="224025" y="1395986"/>
            <a:ext cx="20574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14/14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224025" y="2010463"/>
            <a:ext cx="2057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Detected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2436873" y="1341122"/>
            <a:ext cx="2057400" cy="11157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3"/>
          <p:cNvSpPr/>
          <p:nvPr/>
        </p:nvSpPr>
        <p:spPr>
          <a:xfrm>
            <a:off x="2436873" y="1395986"/>
            <a:ext cx="20574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0C2D4"/>
                </a:solidFill>
                <a:latin typeface="Trebuchet MS"/>
                <a:ea typeface="Trebuchet MS"/>
                <a:cs typeface="Trebuchet MS"/>
                <a:sym typeface="Trebuchet MS"/>
              </a:rPr>
              <a:t>100%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2436873" y="2010463"/>
            <a:ext cx="2057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Match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All Events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4649721" y="1341122"/>
            <a:ext cx="2057400" cy="11157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3"/>
          <p:cNvSpPr/>
          <p:nvPr/>
        </p:nvSpPr>
        <p:spPr>
          <a:xfrm>
            <a:off x="4649721" y="1395986"/>
            <a:ext cx="20574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0C2D4"/>
                </a:solidFill>
                <a:latin typeface="Trebuchet MS"/>
                <a:ea typeface="Trebuchet MS"/>
                <a:cs typeface="Trebuchet MS"/>
                <a:sym typeface="Trebuchet MS"/>
              </a:rPr>
              <a:t>0.9998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4649721" y="2010463"/>
            <a:ext cx="2057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Macro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ROC AUC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6862569" y="1341122"/>
            <a:ext cx="2057400" cy="11157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3"/>
          <p:cNvSpPr/>
          <p:nvPr/>
        </p:nvSpPr>
        <p:spPr>
          <a:xfrm>
            <a:off x="6862569" y="1395986"/>
            <a:ext cx="20574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5C518"/>
                </a:solidFill>
                <a:latin typeface="Trebuchet MS"/>
                <a:ea typeface="Trebuchet MS"/>
                <a:cs typeface="Trebuchet MS"/>
                <a:sym typeface="Trebuchet MS"/>
              </a:rPr>
              <a:t>14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6862569" y="2010463"/>
            <a:ext cx="2057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News Source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1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Links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5" name="Google Shape;495;p13"/>
          <p:cNvGraphicFramePr/>
          <p:nvPr/>
        </p:nvGraphicFramePr>
        <p:xfrm>
          <a:off x="224025" y="259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{BA728E90-49F9-44F9-8203-1F158B89F5DF}</a:tableStyleId>
              </a:tblPr>
              <a:tblGrid>
                <a:gridCol w="2743200"/>
                <a:gridCol w="731525"/>
                <a:gridCol w="1005850"/>
                <a:gridCol w="2651750"/>
                <a:gridCol w="146305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Event Group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Anomaly Score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5B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Delhi Stubble Burning 2019-2023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Fire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match all 5 events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0.52 to 0.71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Rajasthan Dust Storms 2019-2023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Dust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match all 5 events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0.26 to 0.54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LG Polymers Gas Leak May 2020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Gas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match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0.122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HPCL + VSEZ Industrial 2021/2023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Industrial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match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0.27 to 0.49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Escientia Pharma Blast Aug 2024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Industrial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match 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99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0.560</a:t>
                      </a:r>
                      <a:endParaRPr sz="1100" u="none" cap="none" strike="noStrike">
                        <a:solidFill>
                          <a:srgbClr val="FF99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D4"/>
          </a:solidFill>
          <a:ln cap="flat" cmpd="sng" w="12700">
            <a:solidFill>
              <a:srgbClr val="00C2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4"/>
          <p:cNvSpPr/>
          <p:nvPr/>
        </p:nvSpPr>
        <p:spPr>
          <a:xfrm>
            <a:off x="3123457" y="429750"/>
            <a:ext cx="2897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2430600" y="1156800"/>
            <a:ext cx="4161600" cy="32682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4"/>
          <p:cNvSpPr/>
          <p:nvPr/>
        </p:nvSpPr>
        <p:spPr>
          <a:xfrm>
            <a:off x="2591093" y="1284713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What We Proved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2567755" y="1650574"/>
            <a:ext cx="3858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Air quality IS a disaster indicator: each hazard type has a unique chemical fingerprint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2567755" y="2098630"/>
            <a:ext cx="3858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5-fold CV accuracy 0.9864 with std dev 0.0013: consistent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2567755" y="2546686"/>
            <a:ext cx="3858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Overfitting gap only 0.69%: model generalises to unseen 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2567755" y="2994742"/>
            <a:ext cx="3858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Macro ROC AUC 0.9998, Gas and Industrial AUC = 1.0000 perfect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2582018" y="3558523"/>
            <a:ext cx="3858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&gt; 14/14 real events detected at 100% match rate including Escientia Aug 2024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c5e071c8ab_0_0"/>
          <p:cNvSpPr/>
          <p:nvPr/>
        </p:nvSpPr>
        <p:spPr>
          <a:xfrm>
            <a:off x="0" y="0"/>
            <a:ext cx="109800" cy="5143500"/>
          </a:xfrm>
          <a:prstGeom prst="rect">
            <a:avLst/>
          </a:prstGeom>
          <a:solidFill>
            <a:srgbClr val="00C2D4"/>
          </a:solidFill>
          <a:ln cap="flat" cmpd="sng" w="12700">
            <a:solidFill>
              <a:srgbClr val="00C2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c5e071c8ab_0_0"/>
          <p:cNvSpPr/>
          <p:nvPr/>
        </p:nvSpPr>
        <p:spPr>
          <a:xfrm>
            <a:off x="2939700" y="2023750"/>
            <a:ext cx="32646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Trebuchet MS"/>
              <a:buNone/>
            </a:pPr>
            <a:r>
              <a:rPr b="1" lang="en-US" sz="4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2026-03-15T16:00:46Z</dcterms:created>
  <dc:creator>PptxGenJS</dc:creator>
</cp:coreProperties>
</file>